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3" r:id="rId3"/>
    <p:sldId id="274" r:id="rId4"/>
    <p:sldId id="275" r:id="rId5"/>
    <p:sldId id="276" r:id="rId6"/>
    <p:sldId id="277" r:id="rId7"/>
    <p:sldId id="272" r:id="rId8"/>
    <p:sldId id="278" r:id="rId9"/>
    <p:sldId id="279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76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200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47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st.github.com/karpathy/442a6bf555914893e9891c11519de94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94360" y="22402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知識管理的新典範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301752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9436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基於 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Andrej Karpathy 的推文與 llm-wiki.md 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開源文件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6634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</a:rPr>
              <a:t>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 vs  LLM Wiki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同樣的問題，截然不同的解法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3931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931920" cy="411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每次提問，從零開始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每次都重新搜尋原始文件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重新拼湊答案，沒有累積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相同問題每次答案不同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適合：一次性查詢、即時資料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0248" y="2423160"/>
            <a:ext cx="603504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70248" y="242316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3931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892040" y="1234440"/>
            <a:ext cx="3931920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892040" y="1234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Wiki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編譯一次，持續累積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1488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把原始資料「編譯」成持久 wiki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知識整理一次，持續更新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交叉引用已建立、矛盾已標記</a:t>
            </a:r>
          </a:p>
        </p:txBody>
      </p:sp>
      <p:sp>
        <p:nvSpPr>
          <p:cNvPr id="18" name="Text 16"/>
          <p:cNvSpPr/>
          <p:nvPr/>
        </p:nvSpPr>
        <p:spPr>
          <a:xfrm>
            <a:off x="502920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適合：持續研究、領域知識累積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4411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三層架構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Schema（行為規範）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— LLM 的憲法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847088"/>
            <a:ext cx="2377440" cy="27432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 wiki 結構、慣例、操作流程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LLM 從聊天機器人→有紀律的維護者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由使用者和 LLM 共同演化</a:t>
            </a:r>
          </a:p>
        </p:txBody>
      </p:sp>
      <p:sp>
        <p:nvSpPr>
          <p:cNvPr id="11" name="Shape 9"/>
          <p:cNvSpPr/>
          <p:nvPr/>
        </p:nvSpPr>
        <p:spPr>
          <a:xfrm>
            <a:off x="411480" y="4480560"/>
            <a:ext cx="1645920" cy="29260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11480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行為控制層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37560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Wiki（知識庫）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生成與維護的 .md 集合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1847088"/>
            <a:ext cx="2377440" cy="27432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337560" y="192024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摘要頁、實體頁、概念頁、比較分析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完整控制：建立、更新、維護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知識的蒸餾物，非原始資料副本</a:t>
            </a:r>
          </a:p>
        </p:txBody>
      </p:sp>
      <p:sp>
        <p:nvSpPr>
          <p:cNvPr id="19" name="Shape 17"/>
          <p:cNvSpPr/>
          <p:nvPr/>
        </p:nvSpPr>
        <p:spPr>
          <a:xfrm>
            <a:off x="3337560" y="4480560"/>
            <a:ext cx="1645920" cy="292608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337560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知識整合層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822960"/>
            <a:ext cx="2743200" cy="4114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126480" y="82296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63640" y="914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Raw Sources（原始資料）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2984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文章、論文、圖片、資料集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63640" y="1847088"/>
            <a:ext cx="2377440" cy="27432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263640" y="1920240"/>
            <a:ext cx="24688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不可變——LLM 只讀不寫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這是唯一的 source of truth</a:t>
            </a:r>
          </a:p>
          <a:p>
            <a:pPr marL="0" indent="0">
              <a:spcAft>
                <a:spcPts val="7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由人類策展，決定收錄來源</a:t>
            </a:r>
          </a:p>
        </p:txBody>
      </p:sp>
      <p:sp>
        <p:nvSpPr>
          <p:cNvPr id="27" name="Shape 25"/>
          <p:cNvSpPr/>
          <p:nvPr/>
        </p:nvSpPr>
        <p:spPr>
          <a:xfrm>
            <a:off x="6263640" y="4480560"/>
            <a:ext cx="1645920" cy="29260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263640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事實來源層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2210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三種操作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74320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11480" y="822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822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讀完整份 source，與使用者討論要點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建立摘要頁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更新 index.md 與概念頁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在 log.md 追加紀錄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" y="4251960"/>
            <a:ext cx="2468880" cy="548640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 ingest 可能觸動 10–15 個頁面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82296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74320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337560" y="822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822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14173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讀 index.md 定位相關頁面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深入讀取，綜合回答並附引用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若有長期價值，建議回填 wiki</a:t>
            </a:r>
          </a:p>
        </p:txBody>
      </p:sp>
      <p:sp>
        <p:nvSpPr>
          <p:cNvPr id="17" name="Shape 15"/>
          <p:cNvSpPr/>
          <p:nvPr/>
        </p:nvSpPr>
        <p:spPr>
          <a:xfrm>
            <a:off x="3337560" y="4251960"/>
            <a:ext cx="2468880" cy="5486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42900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探索過程可成為知識庫的一部分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126480" y="82296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263640" y="822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8080" y="8229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健康檢查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1417320"/>
            <a:ext cx="2468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檢查頁面間的矛盾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找出孤立頁面與缺失的交叉引用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建議可進一步調查的問題</a:t>
            </a:r>
          </a:p>
        </p:txBody>
      </p:sp>
      <p:sp>
        <p:nvSpPr>
          <p:cNvPr id="24" name="Shape 22"/>
          <p:cNvSpPr/>
          <p:nvPr/>
        </p:nvSpPr>
        <p:spPr>
          <a:xfrm>
            <a:off x="6263640" y="4251960"/>
            <a:ext cx="2468880" cy="54864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35508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讓錯誤可見，而非讓知識完美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446260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兩個特殊檔案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index.md  —  內容導向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的目錄，按類別組織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每頁列出連結、一行摘要、類型標記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查詢時先讀此檔，再 drill down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查詢的入口點</a:t>
            </a:r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93192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983480" y="868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log.md  —  時間導向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657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的操作紀錄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格式：## [YYYY-MM-DD] operation | 標題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給 LLM 時間感，知道最近做了什麼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時間軸的記憶</a:t>
            </a:r>
          </a:p>
        </p:txBody>
      </p:sp>
    </p:spTree>
    <p:extLst>
      <p:ext uri="{BB962C8B-B14F-4D97-AF65-F5344CB8AC3E}">
        <p14:creationId xmlns:p14="http://schemas.microsoft.com/office/powerpoint/2010/main" val="522674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骨架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411480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目錄結構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LLM_Wiki/PoC/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Schema（LLM 行為規範）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raw/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原始資料（LLM 只讀不寫）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wiki/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index.md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內容目錄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log.md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操作紀錄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0" y="822960"/>
            <a:ext cx="425196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709160" y="8229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包含什麼？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73152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892040" y="13258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架構說明</a:t>
            </a:r>
          </a:p>
        </p:txBody>
      </p:sp>
      <p:sp>
        <p:nvSpPr>
          <p:cNvPr id="13" name="Text 11"/>
          <p:cNvSpPr/>
          <p:nvPr/>
        </p:nvSpPr>
        <p:spPr>
          <a:xfrm>
            <a:off x="4892040" y="1527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三層分離原則與設計理念</a:t>
            </a:r>
          </a:p>
        </p:txBody>
      </p:sp>
      <p:sp>
        <p:nvSpPr>
          <p:cNvPr id="14" name="Shape 12"/>
          <p:cNvSpPr/>
          <p:nvPr/>
        </p:nvSpPr>
        <p:spPr>
          <a:xfrm>
            <a:off x="4709160" y="1837944"/>
            <a:ext cx="73152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892040" y="18379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操作流程</a:t>
            </a:r>
          </a:p>
        </p:txBody>
      </p:sp>
      <p:sp>
        <p:nvSpPr>
          <p:cNvPr id="16" name="Text 14"/>
          <p:cNvSpPr/>
          <p:nvPr/>
        </p:nvSpPr>
        <p:spPr>
          <a:xfrm>
            <a:off x="4892040" y="2039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/ Query / Lint 完整步驟</a:t>
            </a:r>
          </a:p>
        </p:txBody>
      </p:sp>
      <p:sp>
        <p:nvSpPr>
          <p:cNvPr id="17" name="Shape 15"/>
          <p:cNvSpPr/>
          <p:nvPr/>
        </p:nvSpPr>
        <p:spPr>
          <a:xfrm>
            <a:off x="4709160" y="2350008"/>
            <a:ext cx="73152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2350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命名 / frontmatter</a:t>
            </a:r>
          </a:p>
        </p:txBody>
      </p:sp>
      <p:sp>
        <p:nvSpPr>
          <p:cNvPr id="19" name="Text 17"/>
          <p:cNvSpPr/>
          <p:nvPr/>
        </p:nvSpPr>
        <p:spPr>
          <a:xfrm>
            <a:off x="4892040" y="25511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kebab-case；YAML（type、sources、tags）</a:t>
            </a:r>
          </a:p>
        </p:txBody>
      </p:sp>
      <p:sp>
        <p:nvSpPr>
          <p:cNvPr id="20" name="Shape 18"/>
          <p:cNvSpPr/>
          <p:nvPr/>
        </p:nvSpPr>
        <p:spPr>
          <a:xfrm>
            <a:off x="4709160" y="2862072"/>
            <a:ext cx="73152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28620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交叉引用</a:t>
            </a:r>
          </a:p>
        </p:txBody>
      </p:sp>
      <p:sp>
        <p:nvSpPr>
          <p:cNvPr id="22" name="Text 20"/>
          <p:cNvSpPr/>
          <p:nvPr/>
        </p:nvSpPr>
        <p:spPr>
          <a:xfrm>
            <a:off x="4892040" y="30632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[[wiki-link]] 引用規範</a:t>
            </a:r>
          </a:p>
        </p:txBody>
      </p:sp>
      <p:sp>
        <p:nvSpPr>
          <p:cNvPr id="23" name="Shape 21"/>
          <p:cNvSpPr/>
          <p:nvPr/>
        </p:nvSpPr>
        <p:spPr>
          <a:xfrm>
            <a:off x="4709160" y="3374136"/>
            <a:ext cx="73152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892040" y="3374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5753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886200"/>
            <a:ext cx="73152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892040" y="38862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40873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24509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 Q&amp;A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81000" y="787400"/>
            <a:ext cx="2667000" cy="425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81000" y="787400"/>
            <a:ext cx="317500" cy="425450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81000" y="1066800"/>
            <a:ext cx="31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0100" y="1041400"/>
            <a:ext cx="2146300" cy="558800"/>
          </a:xfrm>
          <a:prstGeom prst="rect">
            <a:avLst/>
          </a:prstGeom>
          <a:noFill/>
          <a:ln/>
        </p:spPr>
        <p:txBody>
          <a:bodyPr lIns="0" tIns="0" rIns="0" bIns="0" rtlCol="0" anchor="t" anchorCtr="0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需要開發自動化工具流嗎？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0100" y="1676400"/>
            <a:ext cx="2146300" cy="25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00100" y="1828800"/>
            <a:ext cx="2146300" cy="1270000"/>
          </a:xfrm>
          <a:prstGeom prst="rect">
            <a:avLst/>
          </a:prstGeom>
          <a:noFill/>
          <a:ln/>
        </p:spPr>
        <p:txBody>
          <a:bodyPr lIns="0" tIns="0" rIns="0" bIns="0" rtlCol="0" anchor="t" anchorCtr="0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不需要。一次一份 source，保持人在迴圈裡。自動化會讓錯誤無聲累積。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38500" y="787400"/>
            <a:ext cx="2667000" cy="425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3238500" y="787400"/>
            <a:ext cx="317500" cy="425450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238500" y="1066800"/>
            <a:ext cx="31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1041400"/>
            <a:ext cx="2146300" cy="558800"/>
          </a:xfrm>
          <a:prstGeom prst="rect">
            <a:avLst/>
          </a:prstGeom>
          <a:noFill/>
          <a:ln/>
        </p:spPr>
        <p:txBody>
          <a:bodyPr lIns="0" tIns="0" rIns="0" bIns="0" rtlCol="0" anchor="t" anchorCtr="0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亂問問題會讓 wiki 變差嗎？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657600" y="1676400"/>
            <a:ext cx="2146300" cy="25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657600" y="1828800"/>
            <a:ext cx="2146300" cy="1270000"/>
          </a:xfrm>
          <a:prstGeom prst="rect">
            <a:avLst/>
          </a:prstGeom>
          <a:noFill/>
          <a:ln/>
        </p:spPr>
        <p:txBody>
          <a:bodyPr lIns="0" tIns="0" rIns="0" bIns="0" rtlCol="0" anchor="t" anchorCtr="0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不會。Query 只讀不寫，只有明確同意回填時才會改動 wiki。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6000" y="787400"/>
            <a:ext cx="2667000" cy="425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096000" y="787400"/>
            <a:ext cx="317500" cy="4254500"/>
          </a:xfrm>
          <a:prstGeom prst="rect">
            <a:avLst/>
          </a:prstGeom>
          <a:solidFill>
            <a:srgbClr val="06B6D4">
              <a:alpha val="85000"/>
            </a:srgbClr>
          </a:solidFill>
          <a:ln w="12700">
            <a:solidFill>
              <a:srgbClr val="06B6D4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096000" y="1066800"/>
            <a:ext cx="317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15100" y="1041400"/>
            <a:ext cx="2146300" cy="558800"/>
          </a:xfrm>
          <a:prstGeom prst="rect">
            <a:avLst/>
          </a:prstGeom>
          <a:noFill/>
          <a:ln/>
        </p:spPr>
        <p:txBody>
          <a:bodyPr lIns="0" tIns="0" rIns="0" bIns="0" rtlCol="0" anchor="t" anchorCtr="0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可以放大量軟體專案嗎？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15100" y="1676400"/>
            <a:ext cx="2146300" cy="25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515100" y="1828800"/>
            <a:ext cx="2146300" cy="1270000"/>
          </a:xfrm>
          <a:prstGeom prst="rect">
            <a:avLst/>
          </a:prstGeom>
          <a:noFill/>
          <a:ln/>
        </p:spPr>
        <p:txBody>
          <a:bodyPr lIns="0" tIns="0" rIns="0" bIns="0" rtlCol="0" anchor="t" anchorCtr="0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可以，但你挑選 source，不是傾倒整個 repo。3000 行程式碼會被濃縮成結構化摘要。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2337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越用越聰明 — Compounding Intelligence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越來越懂你，越來越精準</a:t>
            </a:r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566928" cy="5669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累積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2468880" cy="27432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ingest / query 讓知識庫更豐富，下次回答有更多整理好的上下文。</a:t>
            </a:r>
          </a:p>
        </p:txBody>
      </p:sp>
      <p:sp>
        <p:nvSpPr>
          <p:cNvPr id="12" name="Shape 10"/>
          <p:cNvSpPr/>
          <p:nvPr/>
        </p:nvSpPr>
        <p:spPr>
          <a:xfrm>
            <a:off x="411480" y="3959352"/>
            <a:ext cx="1371600" cy="27432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1148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知識複利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27432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337560" y="1508760"/>
            <a:ext cx="566928" cy="5669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33756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演化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37560" y="2240280"/>
            <a:ext cx="2468880" cy="27432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使用者和 AI 共同修改規則，AI 越來越懂你的格式、深度與風格。</a:t>
            </a:r>
          </a:p>
        </p:txBody>
      </p:sp>
      <p:sp>
        <p:nvSpPr>
          <p:cNvPr id="20" name="Shape 18"/>
          <p:cNvSpPr/>
          <p:nvPr/>
        </p:nvSpPr>
        <p:spPr>
          <a:xfrm>
            <a:off x="3337560" y="3959352"/>
            <a:ext cx="1371600" cy="27432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行為精煉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325880"/>
            <a:ext cx="27432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263640" y="1508760"/>
            <a:ext cx="566928" cy="5669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26364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回填機制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2240280"/>
            <a:ext cx="2468880" cy="27432"/>
          </a:xfrm>
          <a:prstGeom prst="rect">
            <a:avLst/>
          </a:prstGeom>
          <a:solidFill>
            <a:srgbClr val="2D4060"/>
          </a:solidFill>
          <a:ln w="12700">
            <a:solidFill>
              <a:srgbClr val="2D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263640" y="233172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探索結果回寫 wiki，讓未來問答站在過去的肩膀上。</a:t>
            </a:r>
          </a:p>
        </p:txBody>
      </p:sp>
      <p:sp>
        <p:nvSpPr>
          <p:cNvPr id="28" name="Shape 26"/>
          <p:cNvSpPr/>
          <p:nvPr/>
        </p:nvSpPr>
        <p:spPr>
          <a:xfrm>
            <a:off x="6263640" y="3959352"/>
            <a:ext cx="1371600" cy="2743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263640" y="3959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探索累積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三者加在一起，就是 Compounding Intelligence — 知識的複利效應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2688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94360" y="640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41148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647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將第一份 source 丟進 raw/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11226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選一篇最想研究的文章或論文</a:t>
            </a:r>
          </a:p>
        </p:txBody>
      </p:sp>
      <p:sp>
        <p:nvSpPr>
          <p:cNvPr id="9" name="Shape 7"/>
          <p:cNvSpPr/>
          <p:nvPr/>
        </p:nvSpPr>
        <p:spPr>
          <a:xfrm>
            <a:off x="594360" y="283464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816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執行第一次 ingest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1638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體驗完整的 LLM Wiki 操作流程</a:t>
            </a:r>
          </a:p>
        </p:txBody>
      </p:sp>
      <p:sp>
        <p:nvSpPr>
          <p:cNvPr id="13" name="Shape 11"/>
          <p:cNvSpPr/>
          <p:nvPr/>
        </p:nvSpPr>
        <p:spPr>
          <a:xfrm>
            <a:off x="594360" y="3886200"/>
            <a:ext cx="502920" cy="50292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6791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根據實際經驗調整 Schema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2153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 CLAUDE.md 越來越符合你的需求</a:t>
            </a:r>
          </a:p>
        </p:txBody>
      </p:sp>
      <p:sp>
        <p:nvSpPr>
          <p:cNvPr id="17" name="Shape 15"/>
          <p:cNvSpPr/>
          <p:nvPr/>
        </p:nvSpPr>
        <p:spPr>
          <a:xfrm>
            <a:off x="594360" y="4297680"/>
            <a:ext cx="82296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"Obsidian is the IDE; the LLM is the programmer; the wiki is the codebase."  — Karpathy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72207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9F3FD8-D121-C940-8A7C-CC2F1DCE3492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fbc9ae1-d28f-4d1c-9795-850c2ff20c4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473</Words>
  <Application>Microsoft Macintosh PowerPoint</Application>
  <PresentationFormat>如螢幕大小 (16:9)</PresentationFormat>
  <Paragraphs>135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Wiki：知識管理的新典範</dc:title>
  <dc:subject>PptxGenJS Presentation</dc:subject>
  <dc:creator>PptxGenJS</dc:creator>
  <cp:lastModifiedBy>River Wang</cp:lastModifiedBy>
  <cp:revision>2</cp:revision>
  <dcterms:created xsi:type="dcterms:W3CDTF">2026-04-07T15:55:29Z</dcterms:created>
  <dcterms:modified xsi:type="dcterms:W3CDTF">2026-04-07T16:15:51Z</dcterms:modified>
</cp:coreProperties>
</file>